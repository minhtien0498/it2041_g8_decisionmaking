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3800" b="1">
                <a:solidFill>
                  <a:srgbClr val="0F172A"/>
                </a:solidFill>
                <a:latin typeface="Arial"/>
              </a:defRPr>
            </a:pPr>
            <a:r>
              <a:t>HỆ THỐNG TƯ VẤN CHỌN BẤT ĐỘNG SẢN THÔNG MINH</a:t>
            </a:r>
            <a:br/>
            <a:r>
              <a:t>TẠI THÀNH PHỐ HỒ CHÍ MINH</a:t>
            </a:r>
          </a:p>
          <a:p>
            <a:pPr>
              <a:spcAft>
                <a:spcPts val="3600"/>
              </a:spcAft>
              <a:defRPr sz="2000">
                <a:solidFill>
                  <a:srgbClr val="1D4ED8"/>
                </a:solidFill>
                <a:latin typeface="Arial"/>
              </a:defRPr>
            </a:pPr>
            <a:r>
              <a:t>Báo cáo tiến độ sơ khởi - Midterm Presentation</a:t>
            </a:r>
          </a:p>
          <a:p>
            <a:pPr>
              <a:defRPr sz="1400">
                <a:solidFill>
                  <a:srgbClr val="64748B"/>
                </a:solidFill>
                <a:latin typeface="Arial"/>
              </a:defRPr>
            </a:pPr>
            <a:r>
              <a:t>Thực hiện bởi: Nhóm 8 (IT2041_G8)</a:t>
            </a:r>
            <a:br/>
            <a:r>
              <a:t>Đề tài: Tư vấn Bất động sản thông minh dựa trên DSS &amp; LLM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1. Input / Output Bài toán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Đặt tả bài toán ra quyết định lựa chọn BĐS tối ưu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Đầu vào (Input)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Hồ sơ mong muốn (User Profile / Preferences):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Ngân sách tối đa (Ràng buộc cứng)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Số phòng ngủ tối thiểu (Ràng buộc cứng)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Độ quan trọng của các tiện ích (Trọng số mềm [0, 1]): trường học, công viên, siêu thị, bệnh viện, trục đường lớn.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Câu lệnh tự do của người dùng (User Query):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Ví dụ: 'Tôi muốn tìm nhà yên tĩnh cho gia đình có con nhỏ, tiện đi chợ và có chỗ chơi cho bé'.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0574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45309"/>
                </a:solidFill>
                <a:latin typeface="Arial"/>
              </a:defRPr>
            </a:pPr>
            <a:r>
              <a:t>Đầu ra (Output) &amp; Ví dụ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Đầu ra (Output):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Danh sách Top 5 Bất động sản phù hợp nhất kèm theo điểm số tổng hợp chi tiết.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Báo cáo phân tích (Breakdown) lý do đề xuất.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Ví dụ thực tế (Scenario Gia đình):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Input: Ràng buộc: Giá &lt;= 8 tỷ, PN &gt;= 3. Trọng số: Trường (0.25), Công viên (0.2), Siêu thị (0.15).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Output Đề xuất số #1: Mã căn GV_008, Điểm: 0.6558, Giá: 4.55 tỷ, 3 PN, cách trường học 614m, công viên 588m.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2. Pipeline Xử lý Dữ liệu &amp; Đề xuất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Sơ đồ từ dữ liệu thô và yêu cầu người dùng ra kết quả Top 5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10241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Quy trình xử lý tuần tự (Pipeline 5.1)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1: Nhận yêu cầu người dùng (Ràng buộc cứng + Trọng số ưu tiên tiện ích)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2: Lọc sơ bộ (Rule-based Filtering) loại bỏ các căn vượt ngân sách hoặc thiếu số phòng ngủ mong muốn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3: Làm giàu dữ liệu địa lý (POI Enrichment) tính toán khoảng cách thực tế (Haversine) từ tọa độ BĐS đến các POI trong khu vực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4: Chuẩn hóa dữ liệu (Normalization) đưa các thuộc tính (khoảng cách, giá, diện tích) về thang đo [0, 1] theo xu hướng tốt hơn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5: Tính điểm tổng hợp (Rule-based Scoring) nhân giá trị chuẩn hóa với trọng số của kịch bản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Bước 6: Xếp hạng và xuất danh sách Top 5 đề xuất chi tiết giải thích cho người dùng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3. Giải pháp đề xuất 5.2 (LLM &amp; Real-time API)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Kiến trúc hệ thống tư vấn thông minh tích hợp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Luồng xử lý thông minh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Semantic Query Parsing: LLM đọc hiểu mong muốn tự do bằng tiếng Việt, phân tích ra các tiêu chí ẩn (ví dụ: 'yên tĩnh' -&gt; giảm điểm gần đường lớn).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Real-time POI Enrichment: Sử dụng Mapbox hoặc Google Places API để tự động truy xuất các tiện ích xung quanh tọa độ của từng BĐS thực tế.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3. Hybrid Scoring &amp; Re-ranking: Kết hợp điểm số khoảng cách POI và chấm điểm nội dung bằng LLM dựa trên thông tin mô tả chi tiết của BĐS (Description).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4. Tự động sinh báo cáo giải thích (LLM Explanation): Giải thích trực quan, tự nhiên và thuyết phục tại sao BĐS được chọn.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0574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45309"/>
                </a:solidFill>
                <a:latin typeface="Arial"/>
              </a:defRPr>
            </a:pPr>
            <a:r>
              <a:t>Ưu điểm vượt trội so với 5.1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🔹 Trải nghiệm người dùng cao: Không cần nhập các form khảo sát phức tạp, chỉ cần trò chuyện tự do.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🔹 Độ chính xác tiện ích tuyệt đối: Lấy POI theo thời gian thực tại bất kỳ vị trí nào, không bị giới hạn bởi database tĩnh.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🔹 Đánh giá BĐS sâu sắc hơn: Đọc hiểu được thông tin phi cấu trúc (ví dụ: hẻm xe hơi, nội thất cao cấp, nở hậu) từ Description tin đăng.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🔹 Cá nhân hóa tối đa: Lý giải lý do đề xuất riêng biệt cho từng người dùng bằng văn phong tiếng Việt tự nhiên.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4. Thông tin Bộ dữ liệu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Chi tiết về dữ liệu nguồn và dữ liệu làm giàu tiện ích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Dữ liệu Bất động sản nguồn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Bộ dữ liệu chính (HCMC Real Estate Data 2025):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Số mẫu ban đầu: 51,304 tin đăng tại TP.HCM.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Làm sạch &amp; Lọc subset (Gò Vấp): Lấy 37 mẫu Nhà riêng sạch.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Tiêu chí lọc sạch: Có tọa độ lat/lon, đầy đủ số phòng ngủ, phòng vệ sinh, giá trị hợp lý (500tr - 30 tỷ), diện tích 20 - 500m².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Phân bố giá trị trong Gò Vấp subset: 2.85 tỷ - 27.0 tỷ.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Diện tích subset: 26m² - 258m².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0574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45309"/>
                </a:solidFill>
                <a:latin typeface="Arial"/>
              </a:defRPr>
            </a:pPr>
            <a:r>
              <a:t>Dữ liệu tiện ích bổ sung (POIs)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Bổ sung tọa độ địa lý thực tế của các tiện ích tại Quận Gò Vấp: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- 8 Trường học nổi tiếng (Nguyễn Du, Lương Thế Vinh, Trần Hưng Đạo...)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- 4 Công viên lớn (Làng Hoa, Gia Định, phường 12...)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- 3 Bệnh viện chính (Bệnh viện Gò Vấp, Bệnh viện 175...)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- 5 Siêu thị tiện ích (Emart Gò Vấp, Coopmart Quang Trung, VinMart...)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- 4 Trục đường lớn di chuyển (Quang Trung, Nguyễn Oanh, Phạm Văn Đồng...)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5. Cách đánh giá Hệ thống tư vấn (DSS Evaluation)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Các tiêu chí đảm bảo chất lượng thuật toán ra quyết định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106984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102412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Tiêu chí đánh giá hệ thống tư vấn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Tỷ lệ thỏa mãn ràng buộc cứng (Constraint Satisfaction Rate): Cam kết 100% kết quả xuất ra không vi phạm ngân sách tối đa hoặc số phòng ngủ tối thiểu.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Tính minh bạch điểm số (Score Transparency): Khách hàng có thể nhìn thấy chi tiết điểm thành phần (giá chuẩn hóa, khoảng cách chuẩn hóa và mức đóng góp thực tế).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3. Sự tương thích theo Kịch bản (Persona Relevance): Danh sách Top 5 đề xuất phải thay đổi rõ rệt và phản ánh đúng trọng số ưu tiên của từng Persona.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4. Tính ổn định xếp hạng (Ranking Stability): Thuật toán chạy deterministic, phản hồi kết quả nhất quán với cùng một cấu hình đầu vào.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5. Trải nghiệm người dùng (UX Explanation): Đánh giá chất lượng của mô tả lý giải giải thích đề xuất Top 1.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6. Kết quả Sơ khởi - Persona 1 &amp; 2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Kết quả chạy thực tế của thuật toán trên subset Gò Vấp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Persona 1: Gia đình có con nhỏ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Ràng buộc: Giá &lt;= 8 tỷ, PN &gt;= 3. Ưu tiên: Trường, CV.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Số căn thỏa mãn lọc: 13 / 37.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Đề xuất tối ưu nhất: GV_008 (Điểm: 0.6558)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Giá: 4.55 tỷ | Diện tích: 60m² | 3 PN - 3 WC.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Khoảng cách tiện ích: Trường (614m), Công viên (588m), Siêu thị (186m).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Đánh giá: Rất thích hợp cho sự phát triển của trẻ nhỏ.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0574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45309"/>
                </a:solidFill>
                <a:latin typeface="Arial"/>
              </a:defRPr>
            </a:pPr>
            <a:r>
              <a:t>Persona 2: Người trẻ độc thân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Ràng buộc: Giá &lt;= 5.5 tỷ, PN &gt;= 2. Ưu tiên: Giá rẻ, Siêu thị.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Số căn thỏa mãn lọc: 14 / 37.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Đề xuất tối ưu nhất: GV_037 (Điểm: 0.6380)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Giá: 2.85 tỷ (Rẻ nhất nhóm lọc) | Diện tích: 26m² | 2 PN - 1 WC.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Khoảng cách tiện ích: Siêu thị (269m), Trục chính Quang Trung (472m).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Đánh giá: Tiết kiệm ngân sách tối đa, dễ dàng di chuyển.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1D4ED8"/>
                </a:solidFill>
                <a:latin typeface="Arial"/>
              </a:defRPr>
            </a:pPr>
            <a:r>
              <a:t>7. Kết quả Sơ khởi - Persona 3 &amp; Kế hoạch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  <a:latin typeface="Arial"/>
              </a:defRPr>
            </a:pPr>
            <a:r>
              <a:t>Nhà đầu tư BĐS và các bước hoàn thiện dự án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828800"/>
            <a:ext cx="512064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05740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Persona 3: Nhà đầu tư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Ràng buộc: Giá &lt;= 15 tỷ, PN &gt;= 1. Ưu tiên: Đơn giá/m² rẻ.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Số căn thỏa mãn lọc: 31 / 37.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Đề xuất tối ưu nhất: GV_008 (Điểm: 0.5875)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Giá: 4.55 tỷ | Đơn giá: 75.8 triệu/m² (Rẻ nhất nhóm lọc).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Tiện ích: Cách trục chính 727m, siêu thị 186m.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- Đánh giá: Khả năng sinh lời cao nhờ đơn giá mua vào cực tốt.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828800"/>
            <a:ext cx="521208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46520" y="2057400"/>
            <a:ext cx="475488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B45309"/>
                </a:solidFill>
                <a:latin typeface="Arial"/>
              </a:defRPr>
            </a:pPr>
            <a:r>
              <a:t>Kế hoạch phát triển tiếp theo (Pipeline 5.2)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1. Tự động hóa lấy POI: Sử dụng Google Places API / OpenStreetMap thay vì hardcode tọa độ.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2. Mở rộng bộ dữ liệu: Nâng số lượng căn lên 200 - 500 mẫu tại nhiều quận khác nhau.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3. Tích hợp Mô hình ngôn ngữ lớn (LLM):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Nhận diện yêu cầu tự do của người dùng thành tham số.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Re-ranking dựa trên mô tả chi tiết của BĐS.</a:t>
            </a:r>
          </a:p>
          <a:p>
            <a:pPr>
              <a:spcAft>
                <a:spcPts val="800"/>
              </a:spcAft>
              <a:defRPr sz="1400">
                <a:solidFill>
                  <a:srgbClr val="0F172A"/>
                </a:solidFill>
                <a:latin typeface="Arial"/>
              </a:defRPr>
            </a:pPr>
            <a:r>
              <a:t>   - Tự động sinh báo cáo giải thích gợi ý tự nhiên.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